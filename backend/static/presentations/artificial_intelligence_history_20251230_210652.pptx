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0" y="0"/>
            <a:ext cx="2743200" cy="27432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3F4F6"/>
                </a:solidFill>
              </a:defRPr>
            </a:pPr>
            <a:r>
              <a:t>A Century of Thought Machines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9CA3AF"/>
                </a:solidFill>
              </a:defRPr>
            </a:pPr>
            <a:r>
              <a:t>A Brief History of Artificial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59436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22C55E"/>
                </a:solidFill>
              </a:defRPr>
            </a:pPr>
            <a:r>
              <a:t>Powered by Lumina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3F4F6"/>
                </a:solidFill>
              </a:defRPr>
            </a:pPr>
            <a:r>
              <a:t>Slide 1: Conceptual Dawn and Formalization (Pre-1956)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>
                <a:solidFill>
                  <a:srgbClr val="9CA3AF"/>
                </a:solidFill>
              </a:defRPr>
            </a:pPr>
            <a:r>
              <a:t>• Philosophical and Mathematical Roots: Early concepts of automatons and formal logic (Leibniz, Boole).</a:t>
            </a:r>
          </a:p>
          <a:p>
            <a:pPr>
              <a:spcBef>
                <a:spcPts val="1200"/>
              </a:spcBef>
              <a:defRPr sz="2000">
                <a:solidFill>
                  <a:srgbClr val="9CA3AF"/>
                </a:solidFill>
              </a:defRPr>
            </a:pPr>
            <a:r>
              <a:t>• Turing's Vision (1950): Alan Turing publishes 'Computing Machinery and Intelligence,' proposing the 'Imitation Game' (Turing Test).</a:t>
            </a:r>
          </a:p>
          <a:p>
            <a:pPr>
              <a:spcBef>
                <a:spcPts val="1200"/>
              </a:spcBef>
              <a:defRPr sz="2000">
                <a:solidFill>
                  <a:srgbClr val="9CA3AF"/>
                </a:solidFill>
              </a:defRPr>
            </a:pPr>
            <a:r>
              <a:t>• The Dartmouth Workshop (1956): John McCarthy officially coins the term 'Artificial Intelligence,' marking the formal birth of the discipline.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3F4F6"/>
                </a:solidFill>
              </a:defRPr>
            </a:pPr>
            <a:r>
              <a:t>Slide 2: Early Successes and the AI Winter (1956–1980s)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>
                <a:solidFill>
                  <a:srgbClr val="9CA3AF"/>
                </a:solidFill>
              </a:defRPr>
            </a:pPr>
            <a:r>
              <a:t>• The Golden Age (1950s–1960s): Early programs like Logic Theorist and ELIZA show promising results for 'toy problems.'</a:t>
            </a:r>
          </a:p>
          <a:p>
            <a:pPr>
              <a:spcBef>
                <a:spcPts val="1200"/>
              </a:spcBef>
              <a:defRPr sz="2000">
                <a:solidFill>
                  <a:srgbClr val="9CA3AF"/>
                </a:solidFill>
              </a:defRPr>
            </a:pPr>
            <a:r>
              <a:t>• Unmet Expectations: Programs failed to scale beyond limited domains; complexity of real-world knowledge led to pessimism (The Frame Problem).</a:t>
            </a:r>
          </a:p>
          <a:p>
            <a:pPr>
              <a:spcBef>
                <a:spcPts val="1200"/>
              </a:spcBef>
              <a:defRPr sz="2000">
                <a:solidFill>
                  <a:srgbClr val="9CA3AF"/>
                </a:solidFill>
              </a:defRPr>
            </a:pPr>
            <a:r>
              <a:t>• The First AI Winter (1970s): Significant funding cuts (especially in the US and UK) due to the failure of machine translation and lack of computational power.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3F4F6"/>
                </a:solidFill>
              </a:defRPr>
            </a:pPr>
            <a:r>
              <a:t>Slide 3: Resurgence and The Deep Learning Revolution (1980s–Present)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>
                <a:solidFill>
                  <a:srgbClr val="9CA3AF"/>
                </a:solidFill>
              </a:defRPr>
            </a:pPr>
            <a:r>
              <a:t>• Expert Systems (1980s): Commercial revival focused on narrow, rule-based systems (e.g., MYCIN) that provided practical utility.</a:t>
            </a:r>
          </a:p>
          <a:p>
            <a:pPr>
              <a:spcBef>
                <a:spcPts val="1200"/>
              </a:spcBef>
              <a:defRPr sz="2000">
                <a:solidFill>
                  <a:srgbClr val="9CA3AF"/>
                </a:solidFill>
              </a:defRPr>
            </a:pPr>
            <a:r>
              <a:t>• The Machine Learning Shift (1990s–2000s): Focus moves from symbolic AI to statistical methods; availability of better algorithms and training data.</a:t>
            </a:r>
          </a:p>
          <a:p>
            <a:pPr>
              <a:spcBef>
                <a:spcPts val="1200"/>
              </a:spcBef>
              <a:defRPr sz="2000">
                <a:solidFill>
                  <a:srgbClr val="9CA3AF"/>
                </a:solidFill>
              </a:defRPr>
            </a:pPr>
            <a:r>
              <a:t>• The Deep Learning Era (2010–Present): Massive datasets, cheaper GPU processing, and the refinement of neural networks enable breakthroughs in computer vision, NLP, and generative AI (e.g., AlphaGo, Transformers).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